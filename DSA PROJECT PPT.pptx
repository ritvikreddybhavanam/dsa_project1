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4" r:id="rId10"/>
    <p:sldId id="265" r:id="rId11"/>
    <p:sldId id="267" r:id="rId12"/>
    <p:sldId id="268" r:id="rId13"/>
    <p:sldId id="272" r:id="rId14"/>
    <p:sldId id="273" r:id="rId15"/>
    <p:sldId id="274" r:id="rId16"/>
    <p:sldId id="275" r:id="rId17"/>
    <p:sldId id="276" r:id="rId18"/>
    <p:sldId id="269" r:id="rId19"/>
  </p:sldIdLst>
  <p:sldSz cx="18288000" cy="10287000"/>
  <p:notesSz cx="6858000" cy="9144000"/>
  <p:embeddedFontLst>
    <p:embeddedFont>
      <p:font typeface="Canva Sans Bold" panose="020B0803030501040103"/>
      <p:bold r:id="rId23"/>
    </p:embeddedFont>
    <p:embeddedFont>
      <p:font typeface="Archivo Black" panose="020B0A03020202020B04"/>
      <p:regular r:id="rId24"/>
    </p:embeddedFont>
    <p:embeddedFont>
      <p:font typeface="Calibri" panose="020F050202020403020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font" Target="fonts/font6.fntdata"/><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364" b="-3364"/>
            </a:stretch>
          </a:blipFill>
        </p:spPr>
      </p:sp>
      <p:sp>
        <p:nvSpPr>
          <p:cNvPr id="3" name="Freeform 3"/>
          <p:cNvSpPr/>
          <p:nvPr/>
        </p:nvSpPr>
        <p:spPr>
          <a:xfrm>
            <a:off x="5486574" y="6667263"/>
            <a:ext cx="7216598" cy="2964819"/>
          </a:xfrm>
          <a:custGeom>
            <a:avLst/>
            <a:gdLst/>
            <a:ahLst/>
            <a:cxnLst/>
            <a:rect l="l" t="t" r="r" b="b"/>
            <a:pathLst>
              <a:path w="7216598" h="2964819">
                <a:moveTo>
                  <a:pt x="0" y="0"/>
                </a:moveTo>
                <a:lnTo>
                  <a:pt x="7216599" y="0"/>
                </a:lnTo>
                <a:lnTo>
                  <a:pt x="7216599" y="2964819"/>
                </a:lnTo>
                <a:lnTo>
                  <a:pt x="0" y="2964819"/>
                </a:lnTo>
                <a:lnTo>
                  <a:pt x="0" y="0"/>
                </a:lnTo>
                <a:close/>
              </a:path>
            </a:pathLst>
          </a:custGeom>
          <a:blipFill>
            <a:blip r:embed="rId2"/>
            <a:stretch>
              <a:fillRect/>
            </a:stretch>
          </a:blipFill>
        </p:spPr>
        <p:txBody>
          <a:bodyPr/>
          <a:p>
            <a:endParaRPr lang="en-US"/>
          </a:p>
        </p:txBody>
      </p:sp>
      <p:sp>
        <p:nvSpPr>
          <p:cNvPr id="4" name="TextBox 4"/>
          <p:cNvSpPr txBox="1"/>
          <p:nvPr/>
        </p:nvSpPr>
        <p:spPr>
          <a:xfrm>
            <a:off x="2667000" y="571500"/>
            <a:ext cx="13517880" cy="933450"/>
          </a:xfrm>
          <a:prstGeom prst="rect">
            <a:avLst/>
          </a:prstGeom>
        </p:spPr>
        <p:txBody>
          <a:bodyPr wrap="square" lIns="0" tIns="0" rIns="0" bIns="0" rtlCol="0" anchor="t">
            <a:spAutoFit/>
          </a:bodyPr>
          <a:lstStyle/>
          <a:p>
            <a:pPr algn="ctr">
              <a:lnSpc>
                <a:spcPts val="7280"/>
              </a:lnSpc>
            </a:pPr>
            <a:r>
              <a:rPr lang="en-US" sz="5200" b="1">
                <a:solidFill>
                  <a:srgbClr val="000000"/>
                </a:solidFill>
                <a:latin typeface="Canva Sans Bold" panose="020B0803030501040103"/>
                <a:ea typeface="Canva Sans Bold" panose="020B0803030501040103"/>
                <a:cs typeface="Canva Sans Bold" panose="020B0803030501040103"/>
                <a:sym typeface="Canva Sans Bold" panose="020B0803030501040103"/>
              </a:rPr>
              <a:t>Title: PlanIt Smart Task Management</a:t>
            </a:r>
            <a:endParaRPr lang="en-US" sz="520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5" name="TextBox 5"/>
          <p:cNvSpPr txBox="1"/>
          <p:nvPr/>
        </p:nvSpPr>
        <p:spPr>
          <a:xfrm>
            <a:off x="1828879" y="1866709"/>
            <a:ext cx="15380236" cy="887095"/>
          </a:xfrm>
          <a:prstGeom prst="rect">
            <a:avLst/>
          </a:prstGeom>
        </p:spPr>
        <p:txBody>
          <a:bodyPr lIns="0" tIns="0" rIns="0" bIns="0" rtlCol="0" anchor="t">
            <a:spAutoFit/>
          </a:bodyPr>
          <a:lstStyle/>
          <a:p>
            <a:pPr algn="ctr">
              <a:lnSpc>
                <a:spcPts val="7280"/>
              </a:lnSpc>
            </a:pPr>
            <a:r>
              <a:rPr lang="en-US" sz="5200" b="1">
                <a:solidFill>
                  <a:srgbClr val="000000"/>
                </a:solidFill>
                <a:latin typeface="Canva Sans Bold" panose="020B0803030501040103"/>
                <a:ea typeface="Canva Sans Bold" panose="020B0803030501040103"/>
                <a:cs typeface="Canva Sans Bold" panose="020B0803030501040103"/>
                <a:sym typeface="Canva Sans Bold" panose="020B0803030501040103"/>
              </a:rPr>
              <a:t>Student Name: Ritvik Reddy Bhavanam</a:t>
            </a:r>
            <a:endParaRPr lang="en-US" sz="520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6" name="TextBox 6"/>
          <p:cNvSpPr txBox="1"/>
          <p:nvPr/>
        </p:nvSpPr>
        <p:spPr>
          <a:xfrm>
            <a:off x="5791200" y="3162300"/>
            <a:ext cx="7107555" cy="933450"/>
          </a:xfrm>
          <a:prstGeom prst="rect">
            <a:avLst/>
          </a:prstGeom>
        </p:spPr>
        <p:txBody>
          <a:bodyPr wrap="square" lIns="0" tIns="0" rIns="0" bIns="0" rtlCol="0" anchor="t">
            <a:spAutoFit/>
          </a:bodyPr>
          <a:lstStyle/>
          <a:p>
            <a:pPr algn="ctr">
              <a:lnSpc>
                <a:spcPts val="7280"/>
              </a:lnSpc>
            </a:pPr>
            <a:r>
              <a:rPr lang="en-US" sz="5200" b="1">
                <a:solidFill>
                  <a:srgbClr val="000000"/>
                </a:solidFill>
                <a:latin typeface="Canva Sans Bold" panose="020B0803030501040103"/>
                <a:ea typeface="Canva Sans Bold" panose="020B0803030501040103"/>
                <a:cs typeface="Canva Sans Bold" panose="020B0803030501040103"/>
                <a:sym typeface="Canva Sans Bold" panose="020B0803030501040103"/>
              </a:rPr>
              <a:t>Cluster: 3</a:t>
            </a:r>
            <a:endParaRPr lang="en-US" sz="520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7" name="TextBox 7"/>
          <p:cNvSpPr txBox="1"/>
          <p:nvPr/>
        </p:nvSpPr>
        <p:spPr>
          <a:xfrm>
            <a:off x="3581400" y="4457700"/>
            <a:ext cx="11417300" cy="933450"/>
          </a:xfrm>
          <a:prstGeom prst="rect">
            <a:avLst/>
          </a:prstGeom>
        </p:spPr>
        <p:txBody>
          <a:bodyPr wrap="square" lIns="0" tIns="0" rIns="0" bIns="0" rtlCol="0" anchor="t">
            <a:spAutoFit/>
          </a:bodyPr>
          <a:lstStyle/>
          <a:p>
            <a:pPr algn="ctr">
              <a:lnSpc>
                <a:spcPts val="7280"/>
              </a:lnSpc>
            </a:pPr>
            <a:r>
              <a:rPr lang="en-US" sz="5200" b="1">
                <a:solidFill>
                  <a:srgbClr val="000000"/>
                </a:solidFill>
                <a:latin typeface="Canva Sans Bold" panose="020B0803030501040103"/>
                <a:ea typeface="Canva Sans Bold" panose="020B0803030501040103"/>
                <a:cs typeface="Canva Sans Bold" panose="020B0803030501040103"/>
                <a:sym typeface="Canva Sans Bold" panose="020B0803030501040103"/>
              </a:rPr>
              <a:t>Section: 11</a:t>
            </a:r>
            <a:endParaRPr lang="en-US" sz="520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E8DD"/>
        </a:solidFill>
        <a:effectLst/>
      </p:bgPr>
    </p:bg>
    <p:spTree>
      <p:nvGrpSpPr>
        <p:cNvPr id="1" name=""/>
        <p:cNvGrpSpPr/>
        <p:nvPr/>
      </p:nvGrpSpPr>
      <p:grpSpPr>
        <a:xfrm>
          <a:off x="0" y="0"/>
          <a:ext cx="0" cy="0"/>
          <a:chOff x="0" y="0"/>
          <a:chExt cx="0" cy="0"/>
        </a:xfrm>
      </p:grpSpPr>
      <p:sp>
        <p:nvSpPr>
          <p:cNvPr id="2" name="TextBox 2"/>
          <p:cNvSpPr txBox="1"/>
          <p:nvPr/>
        </p:nvSpPr>
        <p:spPr>
          <a:xfrm>
            <a:off x="3429000" y="419100"/>
            <a:ext cx="9669145" cy="1088390"/>
          </a:xfrm>
          <a:prstGeom prst="rect">
            <a:avLst/>
          </a:prstGeom>
        </p:spPr>
        <p:txBody>
          <a:bodyPr wrap="square" lIns="0" tIns="0" rIns="0" bIns="0" rtlCol="0" anchor="t">
            <a:spAutoFit/>
          </a:bodyPr>
          <a:lstStyle/>
          <a:p>
            <a:pPr marL="0" lvl="0" indent="0" algn="r">
              <a:lnSpc>
                <a:spcPts val="8490"/>
              </a:lnSpc>
              <a:spcBef>
                <a:spcPct val="0"/>
              </a:spcBef>
            </a:pPr>
            <a:r>
              <a:rPr lang="en-US" sz="10885" u="none" strike="noStrike" spc="-859">
                <a:solidFill>
                  <a:srgbClr val="000000"/>
                </a:solidFill>
                <a:latin typeface="Archivo Black" panose="020B0A03020202020B04"/>
                <a:ea typeface="Archivo Black" panose="020B0A03020202020B04"/>
                <a:cs typeface="Archivo Black" panose="020B0A03020202020B04"/>
                <a:sym typeface="Archivo Black" panose="020B0A03020202020B04"/>
              </a:rPr>
              <a:t>ABSTRACT</a:t>
            </a:r>
            <a:endParaRPr lang="en-US" sz="10885" u="none" strike="noStrike"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sp>
        <p:nvSpPr>
          <p:cNvPr id="3" name="TextBox 3"/>
          <p:cNvSpPr txBox="1"/>
          <p:nvPr/>
        </p:nvSpPr>
        <p:spPr>
          <a:xfrm>
            <a:off x="762000" y="2095500"/>
            <a:ext cx="17165955" cy="8802370"/>
          </a:xfrm>
          <a:prstGeom prst="rect">
            <a:avLst/>
          </a:prstGeom>
        </p:spPr>
        <p:txBody>
          <a:bodyPr wrap="square" lIns="0" tIns="0" rIns="0" bIns="0" rtlCol="0" anchor="t">
            <a:spAutoFit/>
          </a:bodyPr>
          <a:lstStyle/>
          <a:p>
            <a:pPr algn="l">
              <a:lnSpc>
                <a:spcPct val="200000"/>
              </a:lnSpc>
              <a:spcBef>
                <a:spcPct val="0"/>
              </a:spcBef>
            </a:pPr>
            <a:r>
              <a:rPr lang="en-US" sz="2800" b="1">
                <a:solidFill>
                  <a:srgbClr val="000000"/>
                </a:solidFill>
                <a:latin typeface="Canva Sans Bold" panose="020B0803030501040103"/>
                <a:ea typeface="Canva Sans Bold" panose="020B0803030501040103"/>
                <a:cs typeface="Canva Sans Bold" panose="020B0803030501040103"/>
                <a:sym typeface="Canva Sans Bold" panose="020B0803030501040103"/>
              </a:rPr>
              <a:t>IN THE DIGITAL AGE, EFFECTIVE TASK MANAGEMENT IS CRUCIAL FOR PERSONAL PRODUCTIVIT</a:t>
            </a:r>
            <a:r>
              <a:rPr lang="en-US" sz="2800" b="1">
                <a:solidFill>
                  <a:srgbClr val="000000"/>
                </a:solidFill>
                <a:latin typeface="Canva Sans Bold" panose="020B0803030501040103"/>
                <a:ea typeface="Canva Sans Bold" panose="020B0803030501040103"/>
                <a:cs typeface="Canva Sans Bold" panose="020B0803030501040103"/>
                <a:sym typeface="Canva Sans Bold" panose="020B0803030501040103"/>
              </a:rPr>
              <a:t>Y AND PROFESSIONAL SUCCESS. PLANIT ADDRESSES THE GROWING NEED FOR A SMART, INTUITIVE TO-DO MANAGEMENT SYSTEM THAT ADAPTS TO MODERN WORKFLOWS AND USER PREFERENCES.</a:t>
            </a:r>
            <a:endParaRPr lang="en-US" sz="280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l">
              <a:lnSpc>
                <a:spcPct val="200000"/>
              </a:lnSpc>
              <a:spcBef>
                <a:spcPct val="0"/>
              </a:spcBef>
            </a:pPr>
          </a:p>
          <a:p>
            <a:pPr algn="l">
              <a:lnSpc>
                <a:spcPct val="200000"/>
              </a:lnSpc>
              <a:spcBef>
                <a:spcPct val="0"/>
              </a:spcBef>
            </a:pPr>
          </a:p>
          <a:p>
            <a:pPr algn="l">
              <a:lnSpc>
                <a:spcPct val="200000"/>
              </a:lnSpc>
              <a:spcBef>
                <a:spcPct val="0"/>
              </a:spcBef>
            </a:pPr>
            <a:r>
              <a:rPr lang="en-US" sz="2800" b="1">
                <a:solidFill>
                  <a:srgbClr val="000000"/>
                </a:solidFill>
                <a:latin typeface="Canva Sans Bold" panose="020B0803030501040103"/>
                <a:ea typeface="Canva Sans Bold" panose="020B0803030501040103"/>
                <a:cs typeface="Canva Sans Bold" panose="020B0803030501040103"/>
                <a:sym typeface="Canva Sans Bold" panose="020B0803030501040103"/>
              </a:rPr>
              <a:t>THIS SYSTEM COMBINES ADVANCED WEB TECHNOLOGIES WITH USER-CENTRIC DESIGN PRINCIPLES TO DELIVER A SEAMLESS TASK MANAGEMENT EXPERIENCE. BY INTEGRATING SMART PRIORITIZATION ALGORITHMS, DEADLINE TRACKING, AND PROGRESS ANALYTICS, PLANIT EMPOWERS USERS TO STAY ORGANIZED AND ACHIEVE THEIR GOALS EFFICIENTLY.</a:t>
            </a:r>
            <a:endParaRPr lang="en-US" sz="280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l">
              <a:lnSpc>
                <a:spcPct val="200000"/>
              </a:lnSpc>
              <a:spcBef>
                <a:spcPct val="0"/>
              </a:spcBef>
            </a:pPr>
          </a:p>
          <a:p>
            <a:pPr algn="l">
              <a:lnSpc>
                <a:spcPct val="200000"/>
              </a:lnSpc>
              <a:spcBef>
                <a:spcPct val="0"/>
              </a:spcBef>
            </a:pPr>
          </a:p>
          <a:p>
            <a:pPr algn="l">
              <a:lnSpc>
                <a:spcPct val="200000"/>
              </a:lnSpc>
              <a:spcBef>
                <a:spcPct val="0"/>
              </a:spcBef>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TextBox 2"/>
          <p:cNvSpPr txBox="1"/>
          <p:nvPr/>
        </p:nvSpPr>
        <p:spPr>
          <a:xfrm>
            <a:off x="4876800" y="647700"/>
            <a:ext cx="9811385" cy="1088390"/>
          </a:xfrm>
          <a:prstGeom prst="rect">
            <a:avLst/>
          </a:prstGeom>
        </p:spPr>
        <p:txBody>
          <a:bodyPr wrap="square" lIns="0" tIns="0" rIns="0" bIns="0" rtlCol="0" anchor="t">
            <a:spAutoFit/>
          </a:bodyPr>
          <a:lstStyle/>
          <a:p>
            <a:pPr marL="0" lvl="0" indent="0" algn="l">
              <a:lnSpc>
                <a:spcPts val="8490"/>
              </a:lnSpc>
              <a:spcBef>
                <a:spcPct val="0"/>
              </a:spcBef>
            </a:pPr>
            <a:r>
              <a:rPr lang="en-US" sz="10885" u="none" strike="noStrike" spc="-859">
                <a:solidFill>
                  <a:srgbClr val="000000"/>
                </a:solidFill>
                <a:latin typeface="Archivo Black" panose="020B0A03020202020B04"/>
                <a:ea typeface="Archivo Black" panose="020B0A03020202020B04"/>
                <a:cs typeface="Archivo Black" panose="020B0A03020202020B04"/>
                <a:sym typeface="Archivo Black" panose="020B0A03020202020B04"/>
              </a:rPr>
              <a:t>ABSTRACT</a:t>
            </a:r>
            <a:endParaRPr lang="en-US" sz="10885" u="none" strike="noStrike"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sp>
        <p:nvSpPr>
          <p:cNvPr id="3" name="TextBox 3"/>
          <p:cNvSpPr txBox="1"/>
          <p:nvPr/>
        </p:nvSpPr>
        <p:spPr>
          <a:xfrm>
            <a:off x="580837" y="2570577"/>
            <a:ext cx="16900807" cy="4554855"/>
          </a:xfrm>
          <a:prstGeom prst="rect">
            <a:avLst/>
          </a:prstGeom>
        </p:spPr>
        <p:txBody>
          <a:bodyPr lIns="0" tIns="0" rIns="0" bIns="0" rtlCol="0" anchor="t">
            <a:spAutoFit/>
          </a:bodyPr>
          <a:lstStyle/>
          <a:p>
            <a:pPr marL="0" lvl="0" algn="l">
              <a:lnSpc>
                <a:spcPct val="200000"/>
              </a:lnSpc>
              <a:buClrTx/>
              <a:buSzTx/>
              <a:buNone/>
            </a:pPr>
            <a:r>
              <a:rPr lang="en-US" sz="2800" b="1">
                <a:solidFill>
                  <a:srgbClr val="000000"/>
                </a:solidFill>
                <a:latin typeface="Canva Sans Bold" panose="020B0803030501040103"/>
                <a:ea typeface="Canva Sans Bold" panose="020B0803030501040103"/>
                <a:cs typeface="Canva Sans Bold" panose="020B0803030501040103"/>
                <a:sym typeface="Canva Sans Bold" panose="020B0803030501040103"/>
              </a:rPr>
              <a:t>THE PLATFORM FEATURES A CLEAN, DISTRACTION-FREE INTERFACE THAT PROMOTES FOCUS WHILE PROVIDING POWERFUL TOOLS FOR COLLABORATION AND PRODUCTIVIT</a:t>
            </a:r>
            <a:r>
              <a:rPr lang="en-US" sz="2800" b="1" u="none" strike="noStrike">
                <a:solidFill>
                  <a:srgbClr val="000000"/>
                </a:solidFill>
                <a:latin typeface="Canva Sans Bold" panose="020B0803030501040103"/>
                <a:ea typeface="Canva Sans Bold" panose="020B0803030501040103"/>
                <a:cs typeface="Canva Sans Bold" panose="020B0803030501040103"/>
                <a:sym typeface="Canva Sans Bold" panose="020B0803030501040103"/>
              </a:rPr>
              <a:t>Y TRACKING. WHETHER MANAGING DAILY TASKS OR COMPLEX PROJECT WORKFLOWS, PLANIT SERVES AS A COMPREHENSIVE SOLUTION FOR DIGITAL TASK ORGANIZATION.</a:t>
            </a:r>
            <a:endParaRPr lang="en-US" sz="2800" b="1" u="none" strike="noStrike">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marL="0" lvl="0" indent="0" algn="ctr">
              <a:lnSpc>
                <a:spcPct val="200000"/>
              </a:lnSpc>
              <a:spcBef>
                <a:spcPct val="0"/>
              </a:spcBef>
            </a:pPr>
          </a:p>
          <a:p>
            <a:pPr marL="0" lvl="0" indent="0" algn="ctr">
              <a:lnSpc>
                <a:spcPct val="200000"/>
              </a:lnSpc>
              <a:spcBef>
                <a:spcPct val="0"/>
              </a:spcBef>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TextBox 2"/>
          <p:cNvSpPr txBox="1"/>
          <p:nvPr/>
        </p:nvSpPr>
        <p:spPr>
          <a:xfrm>
            <a:off x="1981432" y="800100"/>
            <a:ext cx="13892537" cy="1228313"/>
          </a:xfrm>
          <a:prstGeom prst="rect">
            <a:avLst/>
          </a:prstGeom>
        </p:spPr>
        <p:txBody>
          <a:bodyPr lIns="0" tIns="0" rIns="0" bIns="0" rtlCol="0" anchor="t">
            <a:spAutoFit/>
          </a:bodyPr>
          <a:lstStyle/>
          <a:p>
            <a:pPr marL="0" lvl="0" indent="0" algn="l">
              <a:lnSpc>
                <a:spcPts val="8490"/>
              </a:lnSpc>
              <a:spcBef>
                <a:spcPct val="0"/>
              </a:spcBef>
            </a:pPr>
            <a:r>
              <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rPr>
              <a:t>EXSISTING SYSTEM</a:t>
            </a:r>
            <a:endPar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sp>
        <p:nvSpPr>
          <p:cNvPr id="3" name="TextBox 3"/>
          <p:cNvSpPr txBox="1"/>
          <p:nvPr/>
        </p:nvSpPr>
        <p:spPr>
          <a:xfrm>
            <a:off x="990600" y="2628900"/>
            <a:ext cx="12268200" cy="6771005"/>
          </a:xfrm>
          <a:prstGeom prst="rect">
            <a:avLst/>
          </a:prstGeom>
        </p:spPr>
        <p:txBody>
          <a:bodyPr wrap="square" lIns="0" tIns="0" rIns="0" bIns="0" rtlCol="0" anchor="t">
            <a:noAutofit/>
          </a:bodyPr>
          <a:lstStyle/>
          <a:p>
            <a:pPr algn="l">
              <a:lnSpc>
                <a:spcPct val="200000"/>
              </a:lnSpc>
              <a:spcBef>
                <a:spcPct val="0"/>
              </a:spcBef>
            </a:pPr>
            <a:r>
              <a:rPr lang="en-US" sz="2800" b="1">
                <a:solidFill>
                  <a:srgbClr val="000000"/>
                </a:solidFill>
                <a:latin typeface="Canva Sans Bold" panose="020B0803030501040103"/>
                <a:ea typeface="Canva Sans Bold" panose="020B0803030501040103"/>
                <a:cs typeface="Canva Sans Bold" panose="020B0803030501040103"/>
                <a:sym typeface="Canva Sans Bold" panose="020B0803030501040103"/>
              </a:rPr>
              <a:t>The existing task management methods are mostly manual or basic digital lists that do not efficiently organize tasks. Users often maintain tasks using simple notes, spreadsheets, or basic applications that lack structured data handling. These systems do not support efficient searching, priority-based organization, or undo functionality. As a result, managing large numbers of tasks becomes difficult, time-consuming, and prone to errors.</a:t>
            </a:r>
            <a:endParaRPr lang="en-US" sz="280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TextBox 2"/>
          <p:cNvSpPr txBox="1"/>
          <p:nvPr/>
        </p:nvSpPr>
        <p:spPr>
          <a:xfrm>
            <a:off x="2514660" y="495013"/>
            <a:ext cx="13892537" cy="1228313"/>
          </a:xfrm>
          <a:prstGeom prst="rect">
            <a:avLst/>
          </a:prstGeom>
        </p:spPr>
        <p:txBody>
          <a:bodyPr lIns="0" tIns="0" rIns="0" bIns="0" rtlCol="0" anchor="t">
            <a:spAutoFit/>
          </a:bodyPr>
          <a:lstStyle/>
          <a:p>
            <a:pPr marL="0" lvl="0" indent="0" algn="ctr">
              <a:lnSpc>
                <a:spcPts val="8490"/>
              </a:lnSpc>
              <a:spcBef>
                <a:spcPct val="0"/>
              </a:spcBef>
            </a:pPr>
            <a:r>
              <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rPr>
              <a:t>PROPOSED SYSTEM</a:t>
            </a:r>
            <a:endPar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sp>
        <p:nvSpPr>
          <p:cNvPr id="3" name="TextBox 3"/>
          <p:cNvSpPr txBox="1"/>
          <p:nvPr/>
        </p:nvSpPr>
        <p:spPr>
          <a:xfrm>
            <a:off x="609600" y="2552700"/>
            <a:ext cx="13878560" cy="6155690"/>
          </a:xfrm>
          <a:prstGeom prst="rect">
            <a:avLst/>
          </a:prstGeom>
        </p:spPr>
        <p:txBody>
          <a:bodyPr wrap="square" lIns="0" tIns="0" rIns="0" bIns="0" rtlCol="0" anchor="t">
            <a:spAutoFit/>
          </a:bodyPr>
          <a:lstStyle/>
          <a:p>
            <a:pPr algn="l">
              <a:lnSpc>
                <a:spcPct val="200000"/>
              </a:lnSpc>
              <a:spcBef>
                <a:spcPct val="0"/>
              </a:spcBef>
            </a:pPr>
            <a:r>
              <a:rPr lang="en-US" sz="2500" b="1">
                <a:solidFill>
                  <a:srgbClr val="000000"/>
                </a:solidFill>
                <a:latin typeface="Canva Sans Bold" panose="020B0803030501040103"/>
                <a:ea typeface="Canva Sans Bold" panose="020B0803030501040103"/>
                <a:cs typeface="Canva Sans Bold" panose="020B0803030501040103"/>
                <a:sym typeface="Canva Sans Bold" panose="020B0803030501040103"/>
              </a:rPr>
              <a:t>The proposed system is a Java console-based Task Management Applicati</a:t>
            </a:r>
            <a:r>
              <a:rPr lang="en-US" sz="2500" b="1">
                <a:solidFill>
                  <a:srgbClr val="000000"/>
                </a:solidFill>
                <a:latin typeface="Canva Sans Bold" panose="020B0803030501040103"/>
                <a:ea typeface="Canva Sans Bold" panose="020B0803030501040103"/>
                <a:cs typeface="Canva Sans Bold" panose="020B0803030501040103"/>
                <a:sym typeface="Canva Sans Bold" panose="020B0803030501040103"/>
              </a:rPr>
              <a:t>on that efficiently manages tasks using different data structures. Tasks are stored using a Linked List, allowing dynamic task management. A Stack is used to implement an undo delete feature, enabling users to restore removed tasks. A Max Heap is used to display tasks based on priority in descending order, ensuring that important tasks are handled first. The system also supports task searching, sorting, overdue task detection, and task completion updates, making task management more organized, efficient, and user-friendly.</a:t>
            </a:r>
            <a:endParaRPr lang="en-US" sz="250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Freeform 2"/>
          <p:cNvSpPr/>
          <p:nvPr/>
        </p:nvSpPr>
        <p:spPr>
          <a:xfrm>
            <a:off x="4189730" y="2324100"/>
            <a:ext cx="9315450" cy="7237730"/>
          </a:xfrm>
          <a:custGeom>
            <a:avLst/>
            <a:gdLst/>
            <a:ahLst/>
            <a:cxnLst/>
            <a:rect l="l" t="t" r="r" b="b"/>
            <a:pathLst>
              <a:path w="5871899" h="8476713">
                <a:moveTo>
                  <a:pt x="0" y="0"/>
                </a:moveTo>
                <a:lnTo>
                  <a:pt x="5871898" y="0"/>
                </a:lnTo>
                <a:lnTo>
                  <a:pt x="5871898" y="8476713"/>
                </a:lnTo>
                <a:lnTo>
                  <a:pt x="0" y="8476713"/>
                </a:lnTo>
                <a:lnTo>
                  <a:pt x="0" y="0"/>
                </a:lnTo>
                <a:close/>
              </a:path>
            </a:pathLst>
          </a:custGeom>
          <a:blipFill>
            <a:blip r:embed="rId1"/>
            <a:stretch>
              <a:fillRect l="-5839" t="-6176" r="-16722" b="-21253"/>
            </a:stretch>
          </a:blipFill>
        </p:spPr>
      </p:sp>
      <p:sp>
        <p:nvSpPr>
          <p:cNvPr id="3" name="TextBox 3"/>
          <p:cNvSpPr txBox="1"/>
          <p:nvPr/>
        </p:nvSpPr>
        <p:spPr>
          <a:xfrm>
            <a:off x="280554" y="628856"/>
            <a:ext cx="17134609" cy="1228313"/>
          </a:xfrm>
          <a:prstGeom prst="rect">
            <a:avLst/>
          </a:prstGeom>
        </p:spPr>
        <p:txBody>
          <a:bodyPr lIns="0" tIns="0" rIns="0" bIns="0" rtlCol="0" anchor="t">
            <a:spAutoFit/>
          </a:bodyPr>
          <a:lstStyle/>
          <a:p>
            <a:pPr marL="0" lvl="0" indent="0" algn="l">
              <a:lnSpc>
                <a:spcPts val="8490"/>
              </a:lnSpc>
              <a:spcBef>
                <a:spcPct val="0"/>
              </a:spcBef>
            </a:pPr>
            <a:r>
              <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rPr>
              <a:t>SYSTEM ARCHITECTURE</a:t>
            </a:r>
            <a:endPar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Text Box 1"/>
          <p:cNvSpPr txBox="1"/>
          <p:nvPr/>
        </p:nvSpPr>
        <p:spPr>
          <a:xfrm>
            <a:off x="1600200" y="647700"/>
            <a:ext cx="14458950" cy="1179830"/>
          </a:xfrm>
          <a:prstGeom prst="rect">
            <a:avLst/>
          </a:prstGeom>
          <a:noFill/>
        </p:spPr>
        <p:txBody>
          <a:bodyPr wrap="square" rtlCol="0" anchor="t">
            <a:spAutoFit/>
          </a:bodyPr>
          <a:p>
            <a:pPr marL="0" lvl="0" indent="0" algn="l">
              <a:lnSpc>
                <a:spcPts val="8490"/>
              </a:lnSpc>
              <a:spcBef>
                <a:spcPct val="0"/>
              </a:spcBef>
            </a:pPr>
            <a:r>
              <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rPr>
              <a:t>PROJECT MODULES</a:t>
            </a:r>
            <a:endPar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sp>
        <p:nvSpPr>
          <p:cNvPr id="3" name="Text Box 2"/>
          <p:cNvSpPr txBox="1"/>
          <p:nvPr/>
        </p:nvSpPr>
        <p:spPr>
          <a:xfrm>
            <a:off x="2125980" y="2247900"/>
            <a:ext cx="13114020" cy="7016115"/>
          </a:xfrm>
          <a:prstGeom prst="rect">
            <a:avLst/>
          </a:prstGeom>
          <a:noFill/>
        </p:spPr>
        <p:txBody>
          <a:bodyPr wrap="square" rtlCol="0">
            <a:spAutoFit/>
          </a:bodyPr>
          <a:p>
            <a:pPr marL="342900" indent="-342900" algn="l">
              <a:lnSpc>
                <a:spcPct val="200000"/>
              </a:lnSpc>
              <a:buClrTx/>
              <a:buSzTx/>
              <a:buFont typeface="Arial" panose="020B0604020202020204" pitchFamily="34" charset="0"/>
              <a:buChar char="•"/>
            </a:pPr>
            <a:r>
              <a:rPr lang="en-US" sz="2500" b="1">
                <a:solidFill>
                  <a:srgbClr val="000000"/>
                </a:solidFill>
                <a:latin typeface="Canva Sans Bold" panose="020B0803030501040103"/>
                <a:ea typeface="Canva Sans Bold" panose="020B0803030501040103"/>
                <a:cs typeface="Canva Sans Bold" panose="020B0803030501040103"/>
              </a:rPr>
              <a:t>User Interface Module – Handles user input and menu operations.</a:t>
            </a:r>
            <a:endParaRPr lang="en-US" sz="2500" b="1">
              <a:solidFill>
                <a:srgbClr val="000000"/>
              </a:solidFill>
              <a:latin typeface="Canva Sans Bold" panose="020B0803030501040103"/>
              <a:ea typeface="Canva Sans Bold" panose="020B0803030501040103"/>
              <a:cs typeface="Canva Sans Bold" panose="020B0803030501040103"/>
            </a:endParaRPr>
          </a:p>
          <a:p>
            <a:pPr algn="l">
              <a:lnSpc>
                <a:spcPct val="200000"/>
              </a:lnSpc>
              <a:buClrTx/>
              <a:buSzTx/>
              <a:buFontTx/>
            </a:pPr>
            <a:endParaRPr lang="en-US" sz="2500" b="1">
              <a:solidFill>
                <a:srgbClr val="000000"/>
              </a:solidFill>
              <a:latin typeface="Canva Sans Bold" panose="020B0803030501040103"/>
              <a:ea typeface="Canva Sans Bold" panose="020B0803030501040103"/>
              <a:cs typeface="Canva Sans Bold" panose="020B0803030501040103"/>
            </a:endParaRPr>
          </a:p>
          <a:p>
            <a:pPr marL="342900" indent="-342900" algn="l">
              <a:lnSpc>
                <a:spcPct val="200000"/>
              </a:lnSpc>
              <a:buClrTx/>
              <a:buSzTx/>
              <a:buFont typeface="Arial" panose="020B0604020202020204" pitchFamily="34" charset="0"/>
              <a:buChar char="•"/>
            </a:pPr>
            <a:r>
              <a:rPr lang="en-US" sz="2500" b="1">
                <a:solidFill>
                  <a:srgbClr val="000000"/>
                </a:solidFill>
                <a:latin typeface="Canva Sans Bold" panose="020B0803030501040103"/>
                <a:ea typeface="Canva Sans Bold" panose="020B0803030501040103"/>
                <a:cs typeface="Canva Sans Bold" panose="020B0803030501040103"/>
              </a:rPr>
              <a:t>Task Management Module – Performs task operations using Linked List.</a:t>
            </a:r>
            <a:endParaRPr lang="en-US" sz="2500" b="1">
              <a:solidFill>
                <a:srgbClr val="000000"/>
              </a:solidFill>
              <a:latin typeface="Canva Sans Bold" panose="020B0803030501040103"/>
              <a:ea typeface="Canva Sans Bold" panose="020B0803030501040103"/>
              <a:cs typeface="Canva Sans Bold" panose="020B0803030501040103"/>
            </a:endParaRPr>
          </a:p>
          <a:p>
            <a:pPr algn="l">
              <a:lnSpc>
                <a:spcPct val="200000"/>
              </a:lnSpc>
              <a:buClrTx/>
              <a:buSzTx/>
              <a:buFontTx/>
            </a:pPr>
            <a:endParaRPr lang="en-US" sz="2500" b="1">
              <a:solidFill>
                <a:srgbClr val="000000"/>
              </a:solidFill>
              <a:latin typeface="Canva Sans Bold" panose="020B0803030501040103"/>
              <a:ea typeface="Canva Sans Bold" panose="020B0803030501040103"/>
              <a:cs typeface="Canva Sans Bold" panose="020B0803030501040103"/>
            </a:endParaRPr>
          </a:p>
          <a:p>
            <a:pPr marL="342900" indent="-342900" algn="l">
              <a:lnSpc>
                <a:spcPct val="200000"/>
              </a:lnSpc>
              <a:buClrTx/>
              <a:buSzTx/>
              <a:buFont typeface="Arial" panose="020B0604020202020204" pitchFamily="34" charset="0"/>
              <a:buChar char="•"/>
            </a:pPr>
            <a:r>
              <a:rPr lang="en-US" sz="2500" b="1">
                <a:solidFill>
                  <a:srgbClr val="000000"/>
                </a:solidFill>
                <a:latin typeface="Canva Sans Bold" panose="020B0803030501040103"/>
                <a:ea typeface="Canva Sans Bold" panose="020B0803030501040103"/>
                <a:cs typeface="Canva Sans Bold" panose="020B0803030501040103"/>
              </a:rPr>
              <a:t>Priority Management Module – Organizes tasks using Max Heap.</a:t>
            </a:r>
            <a:endParaRPr lang="en-US" sz="2500" b="1">
              <a:solidFill>
                <a:srgbClr val="000000"/>
              </a:solidFill>
              <a:latin typeface="Canva Sans Bold" panose="020B0803030501040103"/>
              <a:ea typeface="Canva Sans Bold" panose="020B0803030501040103"/>
              <a:cs typeface="Canva Sans Bold" panose="020B0803030501040103"/>
            </a:endParaRPr>
          </a:p>
          <a:p>
            <a:pPr algn="l">
              <a:lnSpc>
                <a:spcPct val="200000"/>
              </a:lnSpc>
              <a:buClrTx/>
              <a:buSzTx/>
              <a:buFontTx/>
            </a:pPr>
            <a:endParaRPr lang="en-US" sz="2500" b="1">
              <a:solidFill>
                <a:srgbClr val="000000"/>
              </a:solidFill>
              <a:latin typeface="Canva Sans Bold" panose="020B0803030501040103"/>
              <a:ea typeface="Canva Sans Bold" panose="020B0803030501040103"/>
              <a:cs typeface="Canva Sans Bold" panose="020B0803030501040103"/>
            </a:endParaRPr>
          </a:p>
          <a:p>
            <a:pPr marL="342900" indent="-342900" algn="l">
              <a:lnSpc>
                <a:spcPct val="200000"/>
              </a:lnSpc>
              <a:buClrTx/>
              <a:buSzTx/>
              <a:buFont typeface="Arial" panose="020B0604020202020204" pitchFamily="34" charset="0"/>
              <a:buChar char="•"/>
            </a:pPr>
            <a:r>
              <a:rPr lang="en-US" sz="2500" b="1">
                <a:solidFill>
                  <a:srgbClr val="000000"/>
                </a:solidFill>
                <a:latin typeface="Canva Sans Bold" panose="020B0803030501040103"/>
                <a:ea typeface="Canva Sans Bold" panose="020B0803030501040103"/>
                <a:cs typeface="Canva Sans Bold" panose="020B0803030501040103"/>
              </a:rPr>
              <a:t>Undo Operation Module – Restores deleted tasks using Stack.</a:t>
            </a:r>
            <a:endParaRPr lang="en-US" sz="2500" b="1">
              <a:solidFill>
                <a:srgbClr val="000000"/>
              </a:solidFill>
              <a:latin typeface="Canva Sans Bold" panose="020B0803030501040103"/>
              <a:ea typeface="Canva Sans Bold" panose="020B0803030501040103"/>
              <a:cs typeface="Canva Sans Bold" panose="020B0803030501040103"/>
            </a:endParaRPr>
          </a:p>
          <a:p>
            <a:pPr algn="l">
              <a:lnSpc>
                <a:spcPct val="200000"/>
              </a:lnSpc>
              <a:buClrTx/>
              <a:buSzTx/>
              <a:buFontTx/>
            </a:pPr>
            <a:endParaRPr lang="en-US" sz="2500" b="1">
              <a:solidFill>
                <a:srgbClr val="000000"/>
              </a:solidFill>
              <a:latin typeface="Canva Sans Bold" panose="020B0803030501040103"/>
              <a:ea typeface="Canva Sans Bold" panose="020B0803030501040103"/>
              <a:cs typeface="Canva Sans Bold" panose="020B0803030501040103"/>
            </a:endParaRPr>
          </a:p>
          <a:p>
            <a:pPr marL="342900" indent="-342900" algn="l">
              <a:lnSpc>
                <a:spcPct val="200000"/>
              </a:lnSpc>
              <a:buClrTx/>
              <a:buSzTx/>
              <a:buFont typeface="Arial" panose="020B0604020202020204" pitchFamily="34" charset="0"/>
              <a:buChar char="•"/>
            </a:pPr>
            <a:r>
              <a:rPr lang="en-US" sz="2500" b="1">
                <a:solidFill>
                  <a:srgbClr val="000000"/>
                </a:solidFill>
                <a:latin typeface="Canva Sans Bold" panose="020B0803030501040103"/>
                <a:ea typeface="Canva Sans Bold" panose="020B0803030501040103"/>
                <a:cs typeface="Canva Sans Bold" panose="020B0803030501040103"/>
              </a:rPr>
              <a:t>Task Data Module – Stores task attributes using the Task class. </a:t>
            </a:r>
            <a:endParaRPr lang="en-US" sz="2500" b="1">
              <a:solidFill>
                <a:srgbClr val="000000"/>
              </a:solidFill>
              <a:latin typeface="Canva Sans Bold" panose="020B0803030501040103"/>
              <a:ea typeface="Canva Sans Bold" panose="020B0803030501040103"/>
              <a:cs typeface="Canva Sans Bold" panose="020B080303050104010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Text Box 1"/>
          <p:cNvSpPr txBox="1"/>
          <p:nvPr/>
        </p:nvSpPr>
        <p:spPr>
          <a:xfrm>
            <a:off x="4114800" y="571500"/>
            <a:ext cx="14458950" cy="1179830"/>
          </a:xfrm>
          <a:prstGeom prst="rect">
            <a:avLst/>
          </a:prstGeom>
          <a:noFill/>
        </p:spPr>
        <p:txBody>
          <a:bodyPr wrap="square" rtlCol="0" anchor="t">
            <a:spAutoFit/>
          </a:bodyPr>
          <a:p>
            <a:pPr marL="0" lvl="0" indent="0" algn="l">
              <a:lnSpc>
                <a:spcPts val="8490"/>
              </a:lnSpc>
              <a:spcBef>
                <a:spcPct val="0"/>
              </a:spcBef>
            </a:pPr>
            <a:r>
              <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rPr>
              <a:t>OBJECTIVES</a:t>
            </a:r>
            <a:endPar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sp>
        <p:nvSpPr>
          <p:cNvPr id="3" name="Text Box 2"/>
          <p:cNvSpPr txBox="1"/>
          <p:nvPr/>
        </p:nvSpPr>
        <p:spPr>
          <a:xfrm>
            <a:off x="2125980" y="2247900"/>
            <a:ext cx="13114020" cy="7785735"/>
          </a:xfrm>
          <a:prstGeom prst="rect">
            <a:avLst/>
          </a:prstGeom>
          <a:noFill/>
        </p:spPr>
        <p:txBody>
          <a:bodyPr wrap="square" rtlCol="0">
            <a:spAutoFit/>
          </a:bodyPr>
          <a:p>
            <a:pPr marL="342900" indent="-342900" algn="l">
              <a:lnSpc>
                <a:spcPct val="200000"/>
              </a:lnSpc>
              <a:buClrTx/>
              <a:buSzTx/>
              <a:buFont typeface="Arial" panose="020B0604020202020204" pitchFamily="34" charset="0"/>
              <a:buChar char="•"/>
            </a:pPr>
            <a:r>
              <a:rPr lang="en-US" altLang="en-US" sz="2500" b="1">
                <a:solidFill>
                  <a:srgbClr val="000000"/>
                </a:solidFill>
                <a:latin typeface="Canva Sans Bold" panose="020B0803030501040103"/>
                <a:ea typeface="Canva Sans Bold" panose="020B0803030501040103"/>
                <a:cs typeface="Canva Sans Bold" panose="020B0803030501040103"/>
              </a:rPr>
              <a:t>To design a task management system for organizing tasks.</a:t>
            </a:r>
            <a:endParaRPr lang="en-US" altLang="en-US" sz="2500" b="1">
              <a:solidFill>
                <a:srgbClr val="000000"/>
              </a:solidFill>
              <a:latin typeface="Canva Sans Bold" panose="020B0803030501040103"/>
              <a:ea typeface="Canva Sans Bold" panose="020B0803030501040103"/>
              <a:cs typeface="Canva Sans Bold" panose="020B0803030501040103"/>
            </a:endParaRPr>
          </a:p>
          <a:p>
            <a:pPr marL="342900" indent="-342900" algn="l">
              <a:lnSpc>
                <a:spcPct val="200000"/>
              </a:lnSpc>
              <a:buClrTx/>
              <a:buSzTx/>
              <a:buFont typeface="Arial" panose="020B0604020202020204" pitchFamily="34" charset="0"/>
              <a:buChar char="•"/>
            </a:pPr>
            <a:endParaRPr lang="en-US" altLang="en-US" sz="2500" b="1">
              <a:solidFill>
                <a:srgbClr val="000000"/>
              </a:solidFill>
              <a:latin typeface="Canva Sans Bold" panose="020B0803030501040103"/>
              <a:ea typeface="Canva Sans Bold" panose="020B0803030501040103"/>
              <a:cs typeface="Canva Sans Bold" panose="020B0803030501040103"/>
            </a:endParaRPr>
          </a:p>
          <a:p>
            <a:pPr marL="342900" indent="-342900" algn="l">
              <a:lnSpc>
                <a:spcPct val="200000"/>
              </a:lnSpc>
              <a:buClrTx/>
              <a:buSzTx/>
              <a:buFont typeface="Arial" panose="020B0604020202020204" pitchFamily="34" charset="0"/>
              <a:buChar char="•"/>
            </a:pPr>
            <a:r>
              <a:rPr lang="en-US" altLang="en-US" sz="2500" b="1">
                <a:solidFill>
                  <a:srgbClr val="000000"/>
                </a:solidFill>
                <a:latin typeface="Canva Sans Bold" panose="020B0803030501040103"/>
                <a:ea typeface="Canva Sans Bold" panose="020B0803030501040103"/>
                <a:cs typeface="Canva Sans Bold" panose="020B0803030501040103"/>
              </a:rPr>
              <a:t>To implement various data structures like arrays, stacks, queues, heaps, and hashing.</a:t>
            </a:r>
            <a:endParaRPr lang="en-US" altLang="en-US" sz="2500" b="1">
              <a:solidFill>
                <a:srgbClr val="000000"/>
              </a:solidFill>
              <a:latin typeface="Canva Sans Bold" panose="020B0803030501040103"/>
              <a:ea typeface="Canva Sans Bold" panose="020B0803030501040103"/>
              <a:cs typeface="Canva Sans Bold" panose="020B0803030501040103"/>
            </a:endParaRPr>
          </a:p>
          <a:p>
            <a:pPr marL="342900" indent="-342900" algn="l">
              <a:lnSpc>
                <a:spcPct val="200000"/>
              </a:lnSpc>
              <a:buClrTx/>
              <a:buSzTx/>
              <a:buFont typeface="Arial" panose="020B0604020202020204" pitchFamily="34" charset="0"/>
              <a:buChar char="•"/>
            </a:pPr>
            <a:endParaRPr lang="en-US" altLang="en-US" sz="2500" b="1">
              <a:solidFill>
                <a:srgbClr val="000000"/>
              </a:solidFill>
              <a:latin typeface="Canva Sans Bold" panose="020B0803030501040103"/>
              <a:ea typeface="Canva Sans Bold" panose="020B0803030501040103"/>
              <a:cs typeface="Canva Sans Bold" panose="020B0803030501040103"/>
            </a:endParaRPr>
          </a:p>
          <a:p>
            <a:pPr marL="342900" indent="-342900" algn="l">
              <a:lnSpc>
                <a:spcPct val="200000"/>
              </a:lnSpc>
              <a:buClrTx/>
              <a:buSzTx/>
              <a:buFont typeface="Arial" panose="020B0604020202020204" pitchFamily="34" charset="0"/>
              <a:buChar char="•"/>
            </a:pPr>
            <a:r>
              <a:rPr lang="en-US" altLang="en-US" sz="2500" b="1">
                <a:solidFill>
                  <a:srgbClr val="000000"/>
                </a:solidFill>
                <a:latin typeface="Canva Sans Bold" panose="020B0803030501040103"/>
                <a:ea typeface="Canva Sans Bold" panose="020B0803030501040103"/>
                <a:cs typeface="Canva Sans Bold" panose="020B0803030501040103"/>
              </a:rPr>
              <a:t>To manage and display tasks based on priority.</a:t>
            </a:r>
            <a:endParaRPr lang="en-US" altLang="en-US" sz="2500" b="1">
              <a:solidFill>
                <a:srgbClr val="000000"/>
              </a:solidFill>
              <a:latin typeface="Canva Sans Bold" panose="020B0803030501040103"/>
              <a:ea typeface="Canva Sans Bold" panose="020B0803030501040103"/>
              <a:cs typeface="Canva Sans Bold" panose="020B0803030501040103"/>
            </a:endParaRPr>
          </a:p>
          <a:p>
            <a:pPr marL="342900" indent="-342900" algn="l">
              <a:lnSpc>
                <a:spcPct val="200000"/>
              </a:lnSpc>
              <a:buClrTx/>
              <a:buSzTx/>
              <a:buFont typeface="Arial" panose="020B0604020202020204" pitchFamily="34" charset="0"/>
              <a:buChar char="•"/>
            </a:pPr>
            <a:endParaRPr lang="en-US" altLang="en-US" sz="2500" b="1">
              <a:solidFill>
                <a:srgbClr val="000000"/>
              </a:solidFill>
              <a:latin typeface="Canva Sans Bold" panose="020B0803030501040103"/>
              <a:ea typeface="Canva Sans Bold" panose="020B0803030501040103"/>
              <a:cs typeface="Canva Sans Bold" panose="020B0803030501040103"/>
            </a:endParaRPr>
          </a:p>
          <a:p>
            <a:pPr marL="342900" indent="-342900" algn="l">
              <a:lnSpc>
                <a:spcPct val="200000"/>
              </a:lnSpc>
              <a:buClrTx/>
              <a:buSzTx/>
              <a:buFont typeface="Arial" panose="020B0604020202020204" pitchFamily="34" charset="0"/>
              <a:buChar char="•"/>
            </a:pPr>
            <a:r>
              <a:rPr lang="en-US" altLang="en-US" sz="2500" b="1">
                <a:solidFill>
                  <a:srgbClr val="000000"/>
                </a:solidFill>
                <a:latin typeface="Canva Sans Bold" panose="020B0803030501040103"/>
                <a:ea typeface="Canva Sans Bold" panose="020B0803030501040103"/>
                <a:cs typeface="Canva Sans Bold" panose="020B0803030501040103"/>
              </a:rPr>
              <a:t>To improve searching and retrieval of tasks.</a:t>
            </a:r>
            <a:endParaRPr lang="en-US" altLang="en-US" sz="2500" b="1">
              <a:solidFill>
                <a:srgbClr val="000000"/>
              </a:solidFill>
              <a:latin typeface="Canva Sans Bold" panose="020B0803030501040103"/>
              <a:ea typeface="Canva Sans Bold" panose="020B0803030501040103"/>
              <a:cs typeface="Canva Sans Bold" panose="020B0803030501040103"/>
            </a:endParaRPr>
          </a:p>
          <a:p>
            <a:pPr marL="342900" indent="-342900" algn="l">
              <a:lnSpc>
                <a:spcPct val="200000"/>
              </a:lnSpc>
              <a:buClrTx/>
              <a:buSzTx/>
              <a:buFont typeface="Arial" panose="020B0604020202020204" pitchFamily="34" charset="0"/>
              <a:buChar char="•"/>
            </a:pPr>
            <a:endParaRPr lang="en-US" altLang="en-US" sz="2500" b="1">
              <a:solidFill>
                <a:srgbClr val="000000"/>
              </a:solidFill>
              <a:latin typeface="Canva Sans Bold" panose="020B0803030501040103"/>
              <a:ea typeface="Canva Sans Bold" panose="020B0803030501040103"/>
              <a:cs typeface="Canva Sans Bold" panose="020B0803030501040103"/>
            </a:endParaRPr>
          </a:p>
          <a:p>
            <a:pPr marL="342900" indent="-342900" algn="l">
              <a:lnSpc>
                <a:spcPct val="200000"/>
              </a:lnSpc>
              <a:buClrTx/>
              <a:buSzTx/>
              <a:buFont typeface="Arial" panose="020B0604020202020204" pitchFamily="34" charset="0"/>
              <a:buChar char="•"/>
            </a:pPr>
            <a:r>
              <a:rPr lang="en-US" altLang="en-US" sz="2500" b="1">
                <a:solidFill>
                  <a:srgbClr val="000000"/>
                </a:solidFill>
                <a:latin typeface="Canva Sans Bold" panose="020B0803030501040103"/>
                <a:ea typeface="Canva Sans Bold" panose="020B0803030501040103"/>
                <a:cs typeface="Canva Sans Bold" panose="020B0803030501040103"/>
              </a:rPr>
              <a:t>To demonstrate real-world applications of data structures.</a:t>
            </a:r>
            <a:endParaRPr lang="en-US" altLang="en-US" sz="2500" b="1">
              <a:solidFill>
                <a:srgbClr val="000000"/>
              </a:solidFill>
              <a:latin typeface="Canva Sans Bold" panose="020B0803030501040103"/>
              <a:ea typeface="Canva Sans Bold" panose="020B0803030501040103"/>
              <a:cs typeface="Canva Sans Bold" panose="020B080303050104010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Text Box 1"/>
          <p:cNvSpPr txBox="1"/>
          <p:nvPr/>
        </p:nvSpPr>
        <p:spPr>
          <a:xfrm>
            <a:off x="781685" y="571500"/>
            <a:ext cx="17792065" cy="1179830"/>
          </a:xfrm>
          <a:prstGeom prst="rect">
            <a:avLst/>
          </a:prstGeom>
          <a:noFill/>
        </p:spPr>
        <p:txBody>
          <a:bodyPr wrap="square" rtlCol="0" anchor="t">
            <a:spAutoFit/>
          </a:bodyPr>
          <a:p>
            <a:pPr marL="0" lvl="0" indent="0" algn="l">
              <a:lnSpc>
                <a:spcPts val="8490"/>
              </a:lnSpc>
              <a:spcBef>
                <a:spcPct val="0"/>
              </a:spcBef>
            </a:pPr>
            <a:r>
              <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rPr>
              <a:t>CO’S ATTAINMENT - DSA</a:t>
            </a:r>
            <a:endPar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pic>
        <p:nvPicPr>
          <p:cNvPr id="4" name="Picture 3"/>
          <p:cNvPicPr>
            <a:picLocks noChangeAspect="1"/>
          </p:cNvPicPr>
          <p:nvPr/>
        </p:nvPicPr>
        <p:blipFill>
          <a:blip r:embed="rId1"/>
          <a:stretch>
            <a:fillRect/>
          </a:stretch>
        </p:blipFill>
        <p:spPr>
          <a:xfrm>
            <a:off x="891540" y="2164715"/>
            <a:ext cx="16349980" cy="7762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Text Box 1"/>
          <p:cNvSpPr txBox="1"/>
          <p:nvPr/>
        </p:nvSpPr>
        <p:spPr>
          <a:xfrm>
            <a:off x="3048000" y="419100"/>
            <a:ext cx="17792065" cy="1179830"/>
          </a:xfrm>
          <a:prstGeom prst="rect">
            <a:avLst/>
          </a:prstGeom>
          <a:noFill/>
        </p:spPr>
        <p:txBody>
          <a:bodyPr wrap="square" rtlCol="0" anchor="t">
            <a:spAutoFit/>
          </a:bodyPr>
          <a:p>
            <a:pPr marL="0" lvl="0" indent="0" algn="l">
              <a:lnSpc>
                <a:spcPts val="8490"/>
              </a:lnSpc>
              <a:spcBef>
                <a:spcPct val="0"/>
              </a:spcBef>
            </a:pPr>
            <a:r>
              <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rPr>
              <a:t>SCREENSHOT’S</a:t>
            </a:r>
            <a:endPar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pic>
        <p:nvPicPr>
          <p:cNvPr id="3" name="Picture 2"/>
          <p:cNvPicPr>
            <a:picLocks noChangeAspect="1"/>
          </p:cNvPicPr>
          <p:nvPr/>
        </p:nvPicPr>
        <p:blipFill>
          <a:blip r:embed="rId1"/>
          <a:stretch>
            <a:fillRect/>
          </a:stretch>
        </p:blipFill>
        <p:spPr>
          <a:xfrm>
            <a:off x="1219835" y="2096135"/>
            <a:ext cx="7700645" cy="6850380"/>
          </a:xfrm>
          <a:prstGeom prst="rect">
            <a:avLst/>
          </a:prstGeom>
        </p:spPr>
      </p:pic>
      <p:pic>
        <p:nvPicPr>
          <p:cNvPr id="5" name="Picture 4"/>
          <p:cNvPicPr>
            <a:picLocks noChangeAspect="1"/>
          </p:cNvPicPr>
          <p:nvPr/>
        </p:nvPicPr>
        <p:blipFill>
          <a:blip r:embed="rId2"/>
          <a:stretch>
            <a:fillRect/>
          </a:stretch>
        </p:blipFill>
        <p:spPr>
          <a:xfrm>
            <a:off x="9678035" y="2096135"/>
            <a:ext cx="7521575" cy="67735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Text Box 1"/>
          <p:cNvSpPr txBox="1"/>
          <p:nvPr/>
        </p:nvSpPr>
        <p:spPr>
          <a:xfrm>
            <a:off x="3048000" y="419100"/>
            <a:ext cx="17792065" cy="1179830"/>
          </a:xfrm>
          <a:prstGeom prst="rect">
            <a:avLst/>
          </a:prstGeom>
          <a:noFill/>
        </p:spPr>
        <p:txBody>
          <a:bodyPr wrap="square" rtlCol="0" anchor="t">
            <a:spAutoFit/>
          </a:bodyPr>
          <a:p>
            <a:pPr marL="0" lvl="0" indent="0" algn="l">
              <a:lnSpc>
                <a:spcPts val="8490"/>
              </a:lnSpc>
              <a:spcBef>
                <a:spcPct val="0"/>
              </a:spcBef>
            </a:pPr>
            <a:r>
              <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rPr>
              <a:t>SCREENSHOT’S</a:t>
            </a:r>
            <a:endPar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pic>
        <p:nvPicPr>
          <p:cNvPr id="4" name="Picture 3"/>
          <p:cNvPicPr>
            <a:picLocks noChangeAspect="1"/>
          </p:cNvPicPr>
          <p:nvPr/>
        </p:nvPicPr>
        <p:blipFill>
          <a:blip r:embed="rId1"/>
          <a:stretch>
            <a:fillRect/>
          </a:stretch>
        </p:blipFill>
        <p:spPr>
          <a:xfrm>
            <a:off x="686435" y="1598930"/>
            <a:ext cx="7272020" cy="8340725"/>
          </a:xfrm>
          <a:prstGeom prst="rect">
            <a:avLst/>
          </a:prstGeom>
        </p:spPr>
      </p:pic>
      <p:pic>
        <p:nvPicPr>
          <p:cNvPr id="6" name="Picture 5"/>
          <p:cNvPicPr>
            <a:picLocks noChangeAspect="1"/>
          </p:cNvPicPr>
          <p:nvPr/>
        </p:nvPicPr>
        <p:blipFill>
          <a:blip r:embed="rId2"/>
          <a:stretch>
            <a:fillRect/>
          </a:stretch>
        </p:blipFill>
        <p:spPr>
          <a:xfrm>
            <a:off x="8306435" y="1598930"/>
            <a:ext cx="9649460" cy="82340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Text Box 1"/>
          <p:cNvSpPr txBox="1"/>
          <p:nvPr/>
        </p:nvSpPr>
        <p:spPr>
          <a:xfrm>
            <a:off x="3048000" y="419100"/>
            <a:ext cx="17792065" cy="1179830"/>
          </a:xfrm>
          <a:prstGeom prst="rect">
            <a:avLst/>
          </a:prstGeom>
          <a:noFill/>
        </p:spPr>
        <p:txBody>
          <a:bodyPr wrap="square" rtlCol="0" anchor="t">
            <a:spAutoFit/>
          </a:bodyPr>
          <a:p>
            <a:pPr marL="0" lvl="0" indent="0" algn="l">
              <a:lnSpc>
                <a:spcPts val="8490"/>
              </a:lnSpc>
              <a:spcBef>
                <a:spcPct val="0"/>
              </a:spcBef>
            </a:pPr>
            <a:r>
              <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rPr>
              <a:t>SCREENSHOT’S</a:t>
            </a:r>
            <a:endPar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pic>
        <p:nvPicPr>
          <p:cNvPr id="3" name="Picture 2"/>
          <p:cNvPicPr>
            <a:picLocks noChangeAspect="1"/>
          </p:cNvPicPr>
          <p:nvPr/>
        </p:nvPicPr>
        <p:blipFill>
          <a:blip r:embed="rId1"/>
          <a:stretch>
            <a:fillRect/>
          </a:stretch>
        </p:blipFill>
        <p:spPr>
          <a:xfrm>
            <a:off x="534035" y="1598930"/>
            <a:ext cx="7229475" cy="7677150"/>
          </a:xfrm>
          <a:prstGeom prst="rect">
            <a:avLst/>
          </a:prstGeom>
        </p:spPr>
      </p:pic>
      <p:pic>
        <p:nvPicPr>
          <p:cNvPr id="5" name="Picture 4"/>
          <p:cNvPicPr>
            <a:picLocks noChangeAspect="1"/>
          </p:cNvPicPr>
          <p:nvPr/>
        </p:nvPicPr>
        <p:blipFill>
          <a:blip r:embed="rId2"/>
          <a:stretch>
            <a:fillRect/>
          </a:stretch>
        </p:blipFill>
        <p:spPr>
          <a:xfrm>
            <a:off x="9144635" y="1562735"/>
            <a:ext cx="8537575" cy="77050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Text Box 1"/>
          <p:cNvSpPr txBox="1"/>
          <p:nvPr/>
        </p:nvSpPr>
        <p:spPr>
          <a:xfrm>
            <a:off x="3048000" y="419100"/>
            <a:ext cx="17792065" cy="1179830"/>
          </a:xfrm>
          <a:prstGeom prst="rect">
            <a:avLst/>
          </a:prstGeom>
          <a:noFill/>
        </p:spPr>
        <p:txBody>
          <a:bodyPr wrap="square" rtlCol="0" anchor="t">
            <a:spAutoFit/>
          </a:bodyPr>
          <a:p>
            <a:pPr marL="0" lvl="0" indent="0" algn="l">
              <a:lnSpc>
                <a:spcPts val="8490"/>
              </a:lnSpc>
              <a:spcBef>
                <a:spcPct val="0"/>
              </a:spcBef>
            </a:pPr>
            <a:r>
              <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rPr>
              <a:t>SCREENSHOT’S</a:t>
            </a:r>
            <a:endPar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pic>
        <p:nvPicPr>
          <p:cNvPr id="3" name="Picture 2"/>
          <p:cNvPicPr>
            <a:picLocks noChangeAspect="1"/>
          </p:cNvPicPr>
          <p:nvPr/>
        </p:nvPicPr>
        <p:blipFill>
          <a:blip r:embed="rId1"/>
          <a:stretch>
            <a:fillRect/>
          </a:stretch>
        </p:blipFill>
        <p:spPr>
          <a:xfrm>
            <a:off x="1663065" y="2096135"/>
            <a:ext cx="15064105" cy="78066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Text Box 1"/>
          <p:cNvSpPr txBox="1"/>
          <p:nvPr/>
        </p:nvSpPr>
        <p:spPr>
          <a:xfrm>
            <a:off x="3048000" y="419100"/>
            <a:ext cx="17792065" cy="1179830"/>
          </a:xfrm>
          <a:prstGeom prst="rect">
            <a:avLst/>
          </a:prstGeom>
          <a:noFill/>
        </p:spPr>
        <p:txBody>
          <a:bodyPr wrap="square" rtlCol="0" anchor="t">
            <a:spAutoFit/>
          </a:bodyPr>
          <a:p>
            <a:pPr marL="0" lvl="0" indent="0" algn="l">
              <a:lnSpc>
                <a:spcPts val="8490"/>
              </a:lnSpc>
              <a:spcBef>
                <a:spcPct val="0"/>
              </a:spcBef>
            </a:pPr>
            <a:r>
              <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rPr>
              <a:t>SCREENSHOT’S</a:t>
            </a:r>
            <a:endPar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pic>
        <p:nvPicPr>
          <p:cNvPr id="4" name="Picture 3"/>
          <p:cNvPicPr>
            <a:picLocks noChangeAspect="1"/>
          </p:cNvPicPr>
          <p:nvPr/>
        </p:nvPicPr>
        <p:blipFill>
          <a:blip r:embed="rId1"/>
          <a:stretch>
            <a:fillRect/>
          </a:stretch>
        </p:blipFill>
        <p:spPr>
          <a:xfrm>
            <a:off x="534035" y="1943735"/>
            <a:ext cx="7909560" cy="6631940"/>
          </a:xfrm>
          <a:prstGeom prst="rect">
            <a:avLst/>
          </a:prstGeom>
        </p:spPr>
      </p:pic>
      <p:pic>
        <p:nvPicPr>
          <p:cNvPr id="5" name="Picture 4"/>
          <p:cNvPicPr>
            <a:picLocks noChangeAspect="1"/>
          </p:cNvPicPr>
          <p:nvPr/>
        </p:nvPicPr>
        <p:blipFill>
          <a:blip r:embed="rId2"/>
          <a:stretch>
            <a:fillRect/>
          </a:stretch>
        </p:blipFill>
        <p:spPr>
          <a:xfrm>
            <a:off x="8763635" y="1943735"/>
            <a:ext cx="9248775" cy="66319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Text Box 1"/>
          <p:cNvSpPr txBox="1"/>
          <p:nvPr/>
        </p:nvSpPr>
        <p:spPr>
          <a:xfrm>
            <a:off x="3048000" y="419100"/>
            <a:ext cx="17792065" cy="1179830"/>
          </a:xfrm>
          <a:prstGeom prst="rect">
            <a:avLst/>
          </a:prstGeom>
          <a:noFill/>
        </p:spPr>
        <p:txBody>
          <a:bodyPr wrap="square" rtlCol="0" anchor="t">
            <a:spAutoFit/>
          </a:bodyPr>
          <a:p>
            <a:pPr marL="0" lvl="0" indent="0" algn="l">
              <a:lnSpc>
                <a:spcPts val="8490"/>
              </a:lnSpc>
              <a:spcBef>
                <a:spcPct val="0"/>
              </a:spcBef>
            </a:pPr>
            <a:r>
              <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rPr>
              <a:t>SCREENSHOT’S</a:t>
            </a:r>
            <a:endPar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pic>
        <p:nvPicPr>
          <p:cNvPr id="3" name="Picture 2"/>
          <p:cNvPicPr>
            <a:picLocks noChangeAspect="1"/>
          </p:cNvPicPr>
          <p:nvPr/>
        </p:nvPicPr>
        <p:blipFill>
          <a:blip r:embed="rId1"/>
          <a:stretch>
            <a:fillRect/>
          </a:stretch>
        </p:blipFill>
        <p:spPr>
          <a:xfrm>
            <a:off x="1448435" y="1878330"/>
            <a:ext cx="14754225" cy="1990725"/>
          </a:xfrm>
          <a:prstGeom prst="rect">
            <a:avLst/>
          </a:prstGeom>
        </p:spPr>
      </p:pic>
      <p:pic>
        <p:nvPicPr>
          <p:cNvPr id="6" name="Picture 5"/>
          <p:cNvPicPr>
            <a:picLocks noChangeAspect="1"/>
          </p:cNvPicPr>
          <p:nvPr/>
        </p:nvPicPr>
        <p:blipFill>
          <a:blip r:embed="rId2"/>
          <a:stretch>
            <a:fillRect/>
          </a:stretch>
        </p:blipFill>
        <p:spPr>
          <a:xfrm>
            <a:off x="1448435" y="4534535"/>
            <a:ext cx="14753590" cy="2533650"/>
          </a:xfrm>
          <a:prstGeom prst="rect">
            <a:avLst/>
          </a:prstGeom>
        </p:spPr>
      </p:pic>
      <p:pic>
        <p:nvPicPr>
          <p:cNvPr id="7" name="Picture 6"/>
          <p:cNvPicPr>
            <a:picLocks noChangeAspect="1"/>
          </p:cNvPicPr>
          <p:nvPr/>
        </p:nvPicPr>
        <p:blipFill>
          <a:blip r:embed="rId3"/>
          <a:stretch>
            <a:fillRect/>
          </a:stretch>
        </p:blipFill>
        <p:spPr>
          <a:xfrm>
            <a:off x="1448435" y="7582535"/>
            <a:ext cx="14722475" cy="22313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Text Box 1"/>
          <p:cNvSpPr txBox="1"/>
          <p:nvPr/>
        </p:nvSpPr>
        <p:spPr>
          <a:xfrm>
            <a:off x="3048000" y="419100"/>
            <a:ext cx="17792065" cy="1179830"/>
          </a:xfrm>
          <a:prstGeom prst="rect">
            <a:avLst/>
          </a:prstGeom>
          <a:noFill/>
        </p:spPr>
        <p:txBody>
          <a:bodyPr wrap="square" rtlCol="0" anchor="t">
            <a:spAutoFit/>
          </a:bodyPr>
          <a:p>
            <a:pPr marL="0" lvl="0" indent="0" algn="l">
              <a:lnSpc>
                <a:spcPts val="8490"/>
              </a:lnSpc>
              <a:spcBef>
                <a:spcPct val="0"/>
              </a:spcBef>
            </a:pPr>
            <a:r>
              <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rPr>
              <a:t>SCREENSHOT’S</a:t>
            </a:r>
            <a:endPar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pic>
        <p:nvPicPr>
          <p:cNvPr id="4" name="Picture 3"/>
          <p:cNvPicPr>
            <a:picLocks noChangeAspect="1"/>
          </p:cNvPicPr>
          <p:nvPr/>
        </p:nvPicPr>
        <p:blipFill>
          <a:blip r:embed="rId1"/>
          <a:stretch>
            <a:fillRect/>
          </a:stretch>
        </p:blipFill>
        <p:spPr>
          <a:xfrm>
            <a:off x="1372235" y="1791335"/>
            <a:ext cx="14979650" cy="4388485"/>
          </a:xfrm>
          <a:prstGeom prst="rect">
            <a:avLst/>
          </a:prstGeom>
        </p:spPr>
      </p:pic>
      <p:pic>
        <p:nvPicPr>
          <p:cNvPr id="5" name="Picture 4"/>
          <p:cNvPicPr>
            <a:picLocks noChangeAspect="1"/>
          </p:cNvPicPr>
          <p:nvPr/>
        </p:nvPicPr>
        <p:blipFill>
          <a:blip r:embed="rId2"/>
          <a:stretch>
            <a:fillRect/>
          </a:stretch>
        </p:blipFill>
        <p:spPr>
          <a:xfrm>
            <a:off x="1372235" y="7049135"/>
            <a:ext cx="15006955" cy="23971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DE3D7"/>
        </a:solidFill>
        <a:effectLst/>
      </p:bgPr>
    </p:bg>
    <p:spTree>
      <p:nvGrpSpPr>
        <p:cNvPr id="1" name=""/>
        <p:cNvGrpSpPr/>
        <p:nvPr/>
      </p:nvGrpSpPr>
      <p:grpSpPr>
        <a:xfrm>
          <a:off x="0" y="0"/>
          <a:ext cx="0" cy="0"/>
          <a:chOff x="0" y="0"/>
          <a:chExt cx="0" cy="0"/>
        </a:xfrm>
      </p:grpSpPr>
      <p:sp>
        <p:nvSpPr>
          <p:cNvPr id="2" name="Text Box 1"/>
          <p:cNvSpPr txBox="1"/>
          <p:nvPr/>
        </p:nvSpPr>
        <p:spPr>
          <a:xfrm>
            <a:off x="3582035" y="419100"/>
            <a:ext cx="17792065" cy="1179830"/>
          </a:xfrm>
          <a:prstGeom prst="rect">
            <a:avLst/>
          </a:prstGeom>
          <a:noFill/>
        </p:spPr>
        <p:txBody>
          <a:bodyPr wrap="square" rtlCol="0" anchor="t">
            <a:spAutoFit/>
          </a:bodyPr>
          <a:p>
            <a:pPr marL="0" lvl="0" indent="0" algn="l">
              <a:lnSpc>
                <a:spcPts val="8490"/>
              </a:lnSpc>
              <a:spcBef>
                <a:spcPct val="0"/>
              </a:spcBef>
            </a:pPr>
            <a:r>
              <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rPr>
              <a:t>CONCLUSION</a:t>
            </a:r>
            <a:endParaRPr lang="en-US" sz="10885" spc="-859">
              <a:solidFill>
                <a:srgbClr val="000000"/>
              </a:solidFill>
              <a:latin typeface="Archivo Black" panose="020B0A03020202020B04"/>
              <a:ea typeface="Archivo Black" panose="020B0A03020202020B04"/>
              <a:cs typeface="Archivo Black" panose="020B0A03020202020B04"/>
              <a:sym typeface="Archivo Black" panose="020B0A03020202020B04"/>
            </a:endParaRPr>
          </a:p>
        </p:txBody>
      </p:sp>
      <p:sp>
        <p:nvSpPr>
          <p:cNvPr id="3" name="Text Box 2"/>
          <p:cNvSpPr txBox="1"/>
          <p:nvPr/>
        </p:nvSpPr>
        <p:spPr>
          <a:xfrm>
            <a:off x="1219200" y="2400935"/>
            <a:ext cx="15910560" cy="5477510"/>
          </a:xfrm>
          <a:prstGeom prst="rect">
            <a:avLst/>
          </a:prstGeom>
          <a:noFill/>
        </p:spPr>
        <p:txBody>
          <a:bodyPr wrap="square" rtlCol="0">
            <a:spAutoFit/>
          </a:bodyPr>
          <a:p>
            <a:pPr>
              <a:lnSpc>
                <a:spcPct val="200000"/>
              </a:lnSpc>
            </a:pPr>
            <a:r>
              <a:rPr lang="en-US" sz="2500" b="1">
                <a:solidFill>
                  <a:srgbClr val="000000"/>
                </a:solidFill>
                <a:latin typeface="Canva Sans Bold" panose="020B0803030501040103"/>
                <a:ea typeface="Canva Sans Bold" panose="020B0803030501040103"/>
                <a:cs typeface="Canva Sans Bold" panose="020B0803030501040103"/>
              </a:rPr>
              <a:t>The Task Management System was successfully developed to organize and manage tasks efficiently using various data structures. The system allows users to create tasks, set priorities, track due dates, and mark tasks as completed. By implementing concepts such as arrays, stacks, queues, searching, and heaps, the project demonstrates how data structures can be applied to solve real-world problems. The use of a Max Heap helps in prioritizing tasks so that the most important tasks are handled first. Overall, the project improves task organization, efficiency, and understanding of data structure concepts through practical implementation.</a:t>
            </a:r>
            <a:endParaRPr lang="en-US" sz="2500" b="1">
              <a:solidFill>
                <a:srgbClr val="000000"/>
              </a:solidFill>
              <a:latin typeface="Canva Sans Bold" panose="020B0803030501040103"/>
              <a:ea typeface="Canva Sans Bold" panose="020B0803030501040103"/>
              <a:cs typeface="Canva Sans Bold" panose="020B0803030501040103"/>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3403</Words>
  <Application>WPS Presentation</Application>
  <PresentationFormat>On-screen Show (4:3)</PresentationFormat>
  <Paragraphs>78</Paragraphs>
  <Slides>17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Arial</vt:lpstr>
      <vt:lpstr>SimSun</vt:lpstr>
      <vt:lpstr>Wingdings</vt:lpstr>
      <vt:lpstr>Canva Sans Bold</vt:lpstr>
      <vt:lpstr>Archivo Black</vt:lpstr>
      <vt:lpstr>Microsoft YaHei</vt:lpstr>
      <vt:lpstr>Arial Unicode MS</vt:lpstr>
      <vt:lpstr>Calibri</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
  <cp:lastModifiedBy>ADMIN</cp:lastModifiedBy>
  <cp:revision>4</cp:revision>
  <dcterms:created xsi:type="dcterms:W3CDTF">2006-08-16T00:00:00Z</dcterms:created>
  <dcterms:modified xsi:type="dcterms:W3CDTF">2026-03-07T05:31:42Z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1B0F592AB5B842CC9EADE586FD6B3F1D_13</vt:lpwstr>
  </property>
  <property fmtid="{D5CDD505-2E9C-101B-9397-08002B2CF9AE}" pid="3" name="KSOProductBuildVer">
    <vt:lpwstr>1033-12.2.0.23196</vt:lpwstr>
  </property>
</Properties>
</file>